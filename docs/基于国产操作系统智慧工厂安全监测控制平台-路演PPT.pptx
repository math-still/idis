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微软雅黑"/>
              </a:rPr>
              <a:t>挑战杯 · 揭榜挂帅 · 路演项目书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微软雅黑"/>
              </a:rPr>
              <a:t>基于国产操作系统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微软雅黑"/>
              </a:rPr>
              <a:t>智慧工厂安全监测控制平台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微软雅黑"/>
              </a:rPr>
              <a:t>—— 铜冶炼场景 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微软雅黑"/>
              </a:rPr>
              <a:t>一个能「插上就用、换系统就跑、越用越聪明」的国产化工业安全监测平台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微软雅黑"/>
              </a:rPr>
              <a:t>从危气预警到应用生态与智能决策，让每一座工厂都安全、自主、高效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480560"/>
            <a:ext cx="8229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题目编号：XA-202606   发榜单位：诚迈科技股份有限公司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应用层 · 平台层 · 硬件协议对接层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9144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00D4FF"/>
                </a:solidFill>
                <a:latin typeface="微软雅黑"/>
              </a:rPr>
              <a:t>500ms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软雅黑"/>
              </a:rPr>
              <a:t>危气采集链路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59E0B"/>
                </a:solidFill>
                <a:latin typeface="微软雅黑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软雅黑"/>
              </a:rPr>
              <a:t>采集准确率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故事开篇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深夜车间，一场危气泄漏的生死竞速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2E8F0"/>
                </a:solidFill>
                <a:latin typeface="微软雅黑"/>
              </a:rPr>
              <a:t>铜冶炼阳极炉车间，凌晨2点。
还原期天然气阀门微渗漏，CO 浓度开始悄悄攀升。
按照传统模式，这要靠人工巡检发现——
巡检周期是分钟级，而 CO 超标到危险浓度只需要几十秒。
等值班人员闻到气味、拿起报警器赶到现场：
泄漏可能已扩散，处置窗口已经错过。
更棘手的是：现场 DCS、PLC、气体分析仪、工业相机……
来自不同厂商、不同协议，数据各自为政，无法联动。
而这一切，本可以在 1 秒内完成「监测 → 预警 → 联动处置」。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4389120" cy="18288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微软雅黑"/>
              </a:rPr>
              <a:t>人工巡检响应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F4444"/>
                </a:solidFill>
                <a:latin typeface="微软雅黑"/>
              </a:rPr>
              <a:t>分钟级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880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微软雅黑"/>
              </a:rPr>
              <a:t>错过最佳处置窗口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566160"/>
            <a:ext cx="4389120" cy="18288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703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微软雅黑"/>
              </a:rPr>
              <a:t>平台联动处置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1148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  <a:latin typeface="微软雅黑"/>
              </a:rPr>
              <a:t>秒级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8920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微软雅黑"/>
              </a:rPr>
              <a:t>监测→预警→排风/声光/断电 一键闭环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E1A"/>
                </a:solidFill>
                <a:latin typeface="微软雅黑"/>
              </a:rPr>
              <a:t>「 危气不会等人，安全必须秒级响应 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行业痛点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四大结构性痛点，阻碍工业安全与信创落地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73152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01  危气风险高，响应慢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SO₂/CO/天然气泄漏依赖人工巡检，分钟级响应；联动处置滞后，小异常演变为停炉事故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73152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443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02  协议异构，互联互通难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64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DCS/PLC/工业相机/气体分析仪「七国八制」，数据孤岛，智能应用「无米下锅」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330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03  国产OS适配难，投入大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537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国外生态开发的平台迁移到国产OS需重编译、适配驱动、调优性能，周期3~6个月、投入数百万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73152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218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04  工艺知识流失，智能化浅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42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炉况/终点判断依赖老师傅经验，老龄化断档；多数项目停留在「看板」层面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→ 行业需要：能快速适配国产OS、兼容大多数硬件、承载智能应用的一体化平台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三层架构：硬件即插即用 · 服务按需挂载 · 应用灵活扩展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237744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0E1A"/>
                </a:solidFill>
                <a:latin typeface="微软雅黑"/>
              </a:rP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  <a:latin typeface="微软雅黑"/>
              </a:rPr>
              <a:t>安全监测 · 可视化大屏 · 远程控制 · AI智能体 · 视觉识别 · 管理对接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83280"/>
            <a:ext cx="10332720" cy="13716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383280"/>
            <a:ext cx="237744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0E1A"/>
                </a:solidFill>
                <a:latin typeface="微软雅黑"/>
              </a:rPr>
              <a:t>平台层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86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  <a:latin typeface="微软雅黑"/>
              </a:rPr>
              <a:t>消息服务 · 时序数据库 · 规则引擎 · AI推理 · 容器/集群 · 国密安全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937760"/>
            <a:ext cx="237744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0E1A"/>
                </a:solidFill>
                <a:latin typeface="微软雅黑"/>
              </a:rPr>
              <a:t>硬件协议对接层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4406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  <a:latin typeface="微软雅黑"/>
              </a:rPr>
              <a:t>Modbus/OPC UA/GB28181/HJ212… 驱动插件生态，兼容大多数、开发解决少数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微软雅黑"/>
              </a:rPr>
              <a:t>┌────────────────── 国产操作系统底座：麒麟OS / 统信UOS / OpenHarmony / 诚迈HongZOS ──────────────────┐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五大安全监测功能：题目必做 · 全链路可用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温湿度智能监控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92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精矿库/电解车间环境监测，联动除湿/通风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8928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±0.3℃ 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红外感应照明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98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人员感应自动照明，无人延时关灯节能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8986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≤500ms 响应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危气监测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904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SO₂/CO/天然气三级预警，联动排风/声光/断电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9044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≤1s 联动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AGV 避障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910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阳极板/阴极铜搬运，多路超声波分级避障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910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≤100ms 避障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货物感应计数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916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光电计数阳极板产量，按班次统计库存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916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≥99.5% 准确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五大功能全部映射至铜冶炼真实场景，可实物沙盘演示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AI智能体应用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多类智能体按需挂载 · 工艺数字员工只是其中一类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工艺数字员工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928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炉况监测 · 终点判断 · 节奏协同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92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铜冶炼五工序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07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设备预测性维护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98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振动/温度趋势分析 · 故障预警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898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变事后维修为预测维护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13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能耗优化智能体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04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能耗统计 · 能效异常识别 · 节能建议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9044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双碳合规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18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环保合规智能体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10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烟气/废水汇总 · HJ212上报 · 排放预警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9103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环保监管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11247120" cy="868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24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安全巡检智能体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916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巡检编排 · 异常识别 · 整改闭环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916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安全管理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ReAct智能体范式 · 共享平台AI服务 · 新场景只需开发新智能体应用，无需改动平台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平台界面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数字可视化大屏 + 远程控制台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7132320" cy="448056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微软雅黑"/>
              </a:rPr>
              <a:t>数字可视化大屏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2148840" cy="11430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产线总览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微软雅黑"/>
              </a:rPr>
              <a:t>五工序实时态势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331720"/>
            <a:ext cx="2148840" cy="11430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危气仪表盘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346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微软雅黑"/>
              </a:rPr>
              <a:t>SO₂ / CO / 天然气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331720"/>
            <a:ext cx="2148840" cy="11430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423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报警中心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8346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微软雅黑"/>
              </a:rPr>
              <a:t>实时报警流 + 声光提醒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2148840" cy="11430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AGV 轨迹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微软雅黑"/>
              </a:rPr>
              <a:t>搬运路径与避障事件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57600"/>
            <a:ext cx="2148840" cy="11430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产量看板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微软雅黑"/>
              </a:rPr>
              <a:t>阳极板/阴极铜计数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657600"/>
            <a:ext cx="2148840" cy="114300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AI智能体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微软雅黑"/>
              </a:rPr>
              <a:t>智能应用运行状态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645920"/>
            <a:ext cx="3840480" cy="448056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微软雅黑"/>
              </a:rPr>
              <a:t>远程控制台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377440"/>
            <a:ext cx="3383280" cy="5029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450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微软雅黑"/>
              </a:rPr>
              <a:t>远程开/关排风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017520"/>
            <a:ext cx="3383280" cy="5029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0906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微软雅黑"/>
              </a:rPr>
              <a:t>报警复位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657600"/>
            <a:ext cx="3383280" cy="5029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730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微软雅黑"/>
              </a:rPr>
              <a:t>AGV 启停/转向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297680"/>
            <a:ext cx="3383280" cy="5029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3708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微软雅黑"/>
              </a:rPr>
              <a:t>阈值参数配置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937760"/>
            <a:ext cx="3383280" cy="5029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5010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微软雅黑"/>
              </a:rPr>
              <a:t>分级审批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5577840"/>
            <a:ext cx="3383280" cy="5029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56509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微软雅黑"/>
              </a:rPr>
              <a:t>操作审计留痕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软雅黑"/>
              </a:rPr>
              <a:t>Web + 移动端 H5 · 统一认证 · 权限分级（管理员/操作员/观察员）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可实测、可对比、可验证的量化能力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566160" cy="2011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微软雅黑"/>
              </a:rPr>
              <a:t>500ms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危气采集链路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三级预警 + 趋势预测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566160" cy="2011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微软雅黑"/>
              </a:rPr>
              <a:t>≤1s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88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报警联动响应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54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排风→声光→断电序列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1737360"/>
            <a:ext cx="3566160" cy="2011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920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微软雅黑"/>
              </a:rPr>
              <a:t>99.5%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788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计数准确率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154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光电状态机去抖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3566160" cy="2011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微软雅黑"/>
              </a:rPr>
              <a:t>15fps+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边缘视觉推理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RK3568 NPU 实时识别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3566160" cy="2011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微软雅黑"/>
              </a:rPr>
              <a:t>7天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834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极简部署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49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旁路接入不停产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9" y="3931920"/>
            <a:ext cx="3566160" cy="20116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41148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FF"/>
                </a:solidFill>
                <a:latin typeface="微软雅黑"/>
              </a:rPr>
              <a:t>4+OS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9834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国产系统适配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5349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麒麟/统信/HongZOS/OpenHarmony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多平台同口径对比测试：国产OS vs 通用OS 基线，用数据证明可用、可信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技术壁垒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三大壁垒，构成平台可复制性的护城河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47120" cy="14173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73152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微软雅黑"/>
              </a:rPr>
              <a:t>壁垒一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</a:rPr>
              <a:t>驱动插件生态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04288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内置 Modbus/OPC UA/GB28181/HJ212 等协议驱动，兼容大多数硬件；Driver SDK 快速开发新驱动，新设备接入不改上层逻辑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11247120" cy="14173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73152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微软雅黑"/>
              </a:rPr>
              <a:t>壁垒二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</a:rPr>
              <a:t>国产OS适配方法论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904487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HAL 抽象层 + 容器化交付 + 构建适配矩阵 + 性能对比验证，7天级部署、真机验证、适配报告三件套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微软雅黑"/>
              </a:rPr>
              <a:t>壁垒三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</a:rPr>
              <a:t>应用生态机制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504688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/>
              </a:rPr>
              <a:t>四类开箱即用应用 + 应用商店 + 低代码画布 + 开放API，新场景只需挂载新应用，无需改动平台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→ 壁垒不是代码，而是「能快速适配 + 能兼容硬件 + 能承载智能」的系统能力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端—边—云协同 · 国产OS贯穿全栈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96" y="1552956"/>
            <a:ext cx="6766560" cy="4849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微软雅黑"/>
              </a:rPr>
              <a:t>应用层（六大业务域）→ 平台层（标准化服务）→ 硬件协议对接层（驱动插件）→ 国产操作系统底座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驱动插件生态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工业硬件「即插即用」，协议对接全覆盖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21031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工业总线/控制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Modbus RTU/TCP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OPC 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9981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PROFINET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8386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EtherNet/IP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679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EtherCAT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5486400" cy="21031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视频/视觉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海康/大华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15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RTSP / ONVIF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9981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GB28181 国标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486400" cy="21031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气体/环保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烟气分析仪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01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SO₂/CO 传感器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858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天然气检漏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6986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HJ212 上报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977639"/>
            <a:ext cx="5486400" cy="21031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微软雅黑"/>
              </a:rPr>
              <a:t>无线物联网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LoRa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01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NB-IoT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858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4G/5G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76986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ZigBee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6153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WiFi/蓝牙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未内置驱动？Driver SDK 插件化开发 → 新设备快速接入，无需修改平台核心，驱动市场持续累积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国产OS适配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可快速深度融合嵌入国产操作系统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硬件抽象层(HAL)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928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统一设备访问接口，屏蔽OS驱动差异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92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上层业务与OS解耦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容器化交付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815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Docker 镜像跨OS通用，支持国产CPU架构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081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开发阶段模拟加速迭代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78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构建适配矩阵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2702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源码→交叉编译→打包→部署流水线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2702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麒麟/统信/HongZOS多平台自动产出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67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真机部署验证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4589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国产OS真机运行 + 性能同口径对比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458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微软雅黑"/>
              </a:rPr>
              <a:t>《适配报告》+ 运行截图三件套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2819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微软雅黑"/>
              </a:rPr>
              <a:t>麒麟OS(工业版·PREEMPT_RT实时增强) │ 统信UOS │ OpenHarmony │ 诚迈HongZOS(内置Modbus/CAN)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三重市场叠加：信创 + 安全监测 + 冶炼智能化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1887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微软雅黑"/>
              </a:rPr>
              <a:t>信创改造市场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9280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关键基础设施国产化是政策刚需，工业OS/软件国产化加速落地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8928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D4FF"/>
                </a:solidFill>
                <a:latin typeface="微软雅黑"/>
              </a:rPr>
              <a:t>政策驱动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11247120" cy="11887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729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微软雅黑"/>
              </a:rPr>
              <a:t>工业安全监测市场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6440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危气/环境/设备监测合规刚需，双碳与环保监管趋严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2644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D4FF"/>
                </a:solidFill>
                <a:latin typeface="微软雅黑"/>
              </a:rPr>
              <a:t>合规驱动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11247120" cy="118872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44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微软雅黑"/>
              </a:rPr>
              <a:t>冶炼智能化市场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636007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加工费下行倒逼精细化管控，行业智能化渗透率&lt;30%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63600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D4FF"/>
                </a:solidFill>
                <a:latin typeface="微软雅黑"/>
              </a:rPr>
              <a:t>效益驱动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目标客群：大型冶炼集团(私有化+分成) │ 中小冶炼企业(SaaS+定制包) │ 其他流程工业(平台复制)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竞品分析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差异化定位：四大能力集于一身的稀缺组合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微软雅黑"/>
              </a:rPr>
              <a:t>工业互联网平台厂商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</a:rPr>
              <a:t>卡奥斯/浪潮云洲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微软雅黑"/>
              </a:rPr>
              <a:t>短板：数据连接强，工艺深度浅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微软雅黑"/>
              </a:rPr>
              <a:t>我们的优势：我们：国产OS原生+安全闭环垂直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微软雅黑"/>
              </a:rPr>
              <a:t>工控/自动化厂商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</a:rPr>
              <a:t>和利时/宝信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微软雅黑"/>
              </a:rPr>
              <a:t>短板：控制执行强，决策智能弱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71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微软雅黑"/>
              </a:rPr>
              <a:t>我们的优势：我们：智能决策+多协议即插即用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96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微软雅黑"/>
              </a:rPr>
              <a:t>工业AI厂商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</a:rPr>
              <a:t>华院计算/数商云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微软雅黑"/>
              </a:rPr>
              <a:t>短板：擅长诊断，缺控制闭环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160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微软雅黑"/>
              </a:rPr>
              <a:t>我们的优势：我们：安全监测+AI决策+控制闭环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微软雅黑"/>
              </a:rPr>
              <a:t>国际工业软件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微软雅黑"/>
              </a:rPr>
              <a:t>西门子/罗克韦尔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微软雅黑"/>
              </a:rPr>
              <a:t>短板：全栈强，非国产化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349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微软雅黑"/>
              </a:rPr>
              <a:t>我们的优势：我们：信创合规刚需替代优势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微软雅黑"/>
              </a:rPr>
              <a:t>「国产OS适配+多协议即插即用+安全控制闭环+多智能体决策」四大能力集于一身，市场稀缺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「平台+插件+应用」：一次研发、多次复用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私有化部署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92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大型企业/信创项目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928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100~300万/项 + 增量效益分成20~30%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SaaS 订阅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815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中小企业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815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5~10万/年，7天极简部署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行业定制包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270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铜冶炼企业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702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50~100万/项（炉况/终点/调度等）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微软雅黑"/>
              </a:rPr>
              <a:t>驱动/应用插件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458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存量平台客户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4589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59E0B"/>
                </a:solidFill>
                <a:latin typeface="微软雅黑"/>
              </a:rPr>
              <a:t>1~10万/个，生态持续变现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2819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微软雅黑"/>
              </a:rPr>
              <a:t>核心逻辑：让客户为可量化的价值买单——无增量收益不付费，风险共担、利益共享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财务预测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五年营收预测（保守测算 · 产业化展望）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6949440" cy="420624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微软雅黑"/>
              </a:rPr>
              <a:t>营业总收入（万元）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117459"/>
            <a:ext cx="822960" cy="946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47974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140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4860632"/>
            <a:ext cx="822960" cy="351447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540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520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401046"/>
            <a:ext cx="822960" cy="81103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8100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1200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3522427"/>
            <a:ext cx="822960" cy="16896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20238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2500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59" y="2103120"/>
            <a:ext cx="822960" cy="3108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303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783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</a:rPr>
              <a:t>4600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微软雅黑"/>
              </a:rPr>
              <a:t>净利润（万元）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微软雅黑"/>
              </a:rPr>
              <a:t>2026投入期 -130 → 2027盈亏平衡 → 2030规模化盈利 1,890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1691640"/>
            <a:ext cx="4023360" cy="420624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8745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微软雅黑"/>
              </a:rPr>
              <a:t>关键节点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2027 年实现盈亏平衡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2028 年起毛利率超 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7490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2030 年营收 4,600 万、净利 1,890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34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平台经济：驱动生态复用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120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▸ 重度压力下 4 年内回收投资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微软雅黑"/>
              </a:rPr>
              <a:t>注：测算示意，参赛阶段以团队实测数据为准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微软雅黑"/>
              </a:rPr>
              <a:t>项目团队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</a:rPr>
              <a:t>跨学科复合型攻关团队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196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队长/项目经理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1965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进度 · 资源 · 对外联络 · 方案统筹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硬件工程师 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511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传感器/AGV/工业相机 · 驱动联调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826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系统/嵌入式 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826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国产OS适配 · 采集服务 · 驱动插件框架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1421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后端/平台工程师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1421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MQTT · TDengine · 规则引擎 · 开放API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457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AI 工程师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4573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多智能体编排 · 视觉模型训练与边缘部署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7725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前端/可视化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47725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大屏 · 远程控制台 · 低代码画布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80759"/>
            <a:ext cx="11247120" cy="621792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20877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微软雅黑"/>
              </a:rPr>
              <a:t>测试/文档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20877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微软雅黑"/>
              </a:rPr>
              <a:t>测试执行 · 全部文档与视频材料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软雅黑"/>
              </a:rPr>
              <a:t>团队 ≤10 人 · 指导教师 ≤3 人 · 跨专业/跨校组队（信息提交前更新）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微软雅黑"/>
              </a:rPr>
              <a:t>基于国产操作系统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微软雅黑"/>
              </a:rPr>
              <a:t>智慧工厂安全监测控制平台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383280"/>
            <a:ext cx="48463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微软雅黑"/>
              </a:rPr>
              <a:t>插上就用 · 换系统就跑 · 越用越聪明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微软雅黑"/>
              </a:rPr>
              <a:t>让每一座工厂，都安全、自主、高效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微软雅黑"/>
              </a:rPr>
              <a:t>题目编号 XA-202606 · 发榜单位 诚迈科技股份有限公司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/>
              </a:rPr>
              <a:t>谢谢聆听 · 敬请指正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微软雅黑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